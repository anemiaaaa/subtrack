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90" y="-1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833ED0-8FB5-4C9F-A39B-A602A7FA6672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1943E574-F0A4-4F87-A4AC-10679130E279}">
      <dgm:prSet/>
      <dgm:spPr/>
      <dgm:t>
        <a:bodyPr/>
        <a:lstStyle/>
        <a:p>
          <a:r>
            <a:rPr lang="ru-RU"/>
            <a:t>Offline-first подход</a:t>
          </a:r>
          <a:endParaRPr lang="en-US"/>
        </a:p>
      </dgm:t>
    </dgm:pt>
    <dgm:pt modelId="{7AB8DF05-37D0-4C7D-B592-52AD2D09E97A}" type="parTrans" cxnId="{C249A585-F69F-4A1D-9383-711368AACB28}">
      <dgm:prSet/>
      <dgm:spPr/>
      <dgm:t>
        <a:bodyPr/>
        <a:lstStyle/>
        <a:p>
          <a:endParaRPr lang="en-US"/>
        </a:p>
      </dgm:t>
    </dgm:pt>
    <dgm:pt modelId="{854BBD58-6263-4AF5-8CC9-54BEB69F1A4A}" type="sibTrans" cxnId="{C249A585-F69F-4A1D-9383-711368AACB28}">
      <dgm:prSet/>
      <dgm:spPr/>
      <dgm:t>
        <a:bodyPr/>
        <a:lstStyle/>
        <a:p>
          <a:endParaRPr lang="en-US"/>
        </a:p>
      </dgm:t>
    </dgm:pt>
    <dgm:pt modelId="{59FD1EFC-0860-4E65-8F01-75A66079A03B}">
      <dgm:prSet/>
      <dgm:spPr/>
      <dgm:t>
        <a:bodyPr/>
        <a:lstStyle/>
        <a:p>
          <a:r>
            <a:rPr lang="ru-RU"/>
            <a:t>Работа без интернета</a:t>
          </a:r>
          <a:endParaRPr lang="en-US"/>
        </a:p>
      </dgm:t>
    </dgm:pt>
    <dgm:pt modelId="{A94FB303-7B18-4B93-A2C8-61D53509AFD2}" type="parTrans" cxnId="{3AAD167D-81AF-4E90-BC8B-D84428294779}">
      <dgm:prSet/>
      <dgm:spPr/>
      <dgm:t>
        <a:bodyPr/>
        <a:lstStyle/>
        <a:p>
          <a:endParaRPr lang="en-US"/>
        </a:p>
      </dgm:t>
    </dgm:pt>
    <dgm:pt modelId="{D5B7F756-1ECF-48EA-88D3-43FCCC839411}" type="sibTrans" cxnId="{3AAD167D-81AF-4E90-BC8B-D84428294779}">
      <dgm:prSet/>
      <dgm:spPr/>
      <dgm:t>
        <a:bodyPr/>
        <a:lstStyle/>
        <a:p>
          <a:endParaRPr lang="en-US"/>
        </a:p>
      </dgm:t>
    </dgm:pt>
    <dgm:pt modelId="{71FD9BD5-4C74-4EB8-9D6D-AF8FC6834E2E}">
      <dgm:prSet/>
      <dgm:spPr/>
      <dgm:t>
        <a:bodyPr/>
        <a:lstStyle/>
        <a:p>
          <a:r>
            <a:rPr lang="ru-RU"/>
            <a:t>Автоматическая синхронизация при подключении</a:t>
          </a:r>
          <a:endParaRPr lang="en-US"/>
        </a:p>
      </dgm:t>
    </dgm:pt>
    <dgm:pt modelId="{B7CBC3E1-190B-41A8-920E-D0DB387BB764}" type="parTrans" cxnId="{80968144-3B89-4E65-B93B-4C56247192A0}">
      <dgm:prSet/>
      <dgm:spPr/>
      <dgm:t>
        <a:bodyPr/>
        <a:lstStyle/>
        <a:p>
          <a:endParaRPr lang="en-US"/>
        </a:p>
      </dgm:t>
    </dgm:pt>
    <dgm:pt modelId="{1204E6DD-2655-42A6-BF97-6D289666FEA4}" type="sibTrans" cxnId="{80968144-3B89-4E65-B93B-4C56247192A0}">
      <dgm:prSet/>
      <dgm:spPr/>
      <dgm:t>
        <a:bodyPr/>
        <a:lstStyle/>
        <a:p>
          <a:endParaRPr lang="en-US"/>
        </a:p>
      </dgm:t>
    </dgm:pt>
    <dgm:pt modelId="{D0DEB126-8509-4561-852F-C3DA35097BEC}">
      <dgm:prSet/>
      <dgm:spPr/>
      <dgm:t>
        <a:bodyPr/>
        <a:lstStyle/>
        <a:p>
          <a:r>
            <a:rPr lang="ru-RU"/>
            <a:t>Семейная синхронизация</a:t>
          </a:r>
          <a:endParaRPr lang="en-US"/>
        </a:p>
      </dgm:t>
    </dgm:pt>
    <dgm:pt modelId="{0F4E9C76-D4CA-4A9C-B384-C761D5E47638}" type="parTrans" cxnId="{5F8FDC09-3008-4B4F-AA48-49F9BFAAEA88}">
      <dgm:prSet/>
      <dgm:spPr/>
      <dgm:t>
        <a:bodyPr/>
        <a:lstStyle/>
        <a:p>
          <a:endParaRPr lang="en-US"/>
        </a:p>
      </dgm:t>
    </dgm:pt>
    <dgm:pt modelId="{607C2CA8-D93D-4756-B1FE-CF28DB6F53F8}" type="sibTrans" cxnId="{5F8FDC09-3008-4B4F-AA48-49F9BFAAEA88}">
      <dgm:prSet/>
      <dgm:spPr/>
      <dgm:t>
        <a:bodyPr/>
        <a:lstStyle/>
        <a:p>
          <a:endParaRPr lang="en-US"/>
        </a:p>
      </dgm:t>
    </dgm:pt>
    <dgm:pt modelId="{7C11A0DD-695C-42F9-B4F2-B7D12E2FE1B8}">
      <dgm:prSet/>
      <dgm:spPr/>
      <dgm:t>
        <a:bodyPr/>
        <a:lstStyle/>
        <a:p>
          <a:r>
            <a:rPr lang="ru-RU"/>
            <a:t>Все члены семьи видят актуальные данные</a:t>
          </a:r>
          <a:endParaRPr lang="en-US"/>
        </a:p>
      </dgm:t>
    </dgm:pt>
    <dgm:pt modelId="{787DA740-ED2E-4641-9CA3-D9CB3AD5E42E}" type="parTrans" cxnId="{684D80FB-754E-4768-8F09-5307343FBADF}">
      <dgm:prSet/>
      <dgm:spPr/>
      <dgm:t>
        <a:bodyPr/>
        <a:lstStyle/>
        <a:p>
          <a:endParaRPr lang="en-US"/>
        </a:p>
      </dgm:t>
    </dgm:pt>
    <dgm:pt modelId="{29C0B816-C989-4D81-8C0C-799E0D98826C}" type="sibTrans" cxnId="{684D80FB-754E-4768-8F09-5307343FBADF}">
      <dgm:prSet/>
      <dgm:spPr/>
      <dgm:t>
        <a:bodyPr/>
        <a:lstStyle/>
        <a:p>
          <a:endParaRPr lang="en-US"/>
        </a:p>
      </dgm:t>
    </dgm:pt>
    <dgm:pt modelId="{A826FD08-9BC6-4F2D-AFB8-11B155BC0FCF}">
      <dgm:prSet/>
      <dgm:spPr/>
      <dgm:t>
        <a:bodyPr/>
        <a:lstStyle/>
        <a:p>
          <a:r>
            <a:rPr lang="ru-RU"/>
            <a:t>Изменения синхронизируются в реальном времени</a:t>
          </a:r>
          <a:endParaRPr lang="en-US"/>
        </a:p>
      </dgm:t>
    </dgm:pt>
    <dgm:pt modelId="{9085922E-73C4-4247-B9D5-50367CA083DC}" type="parTrans" cxnId="{01ADA771-2BEF-4F07-834B-3DC5D2F0DB26}">
      <dgm:prSet/>
      <dgm:spPr/>
      <dgm:t>
        <a:bodyPr/>
        <a:lstStyle/>
        <a:p>
          <a:endParaRPr lang="en-US"/>
        </a:p>
      </dgm:t>
    </dgm:pt>
    <dgm:pt modelId="{B350D26A-329E-41AE-90C4-1414DF094601}" type="sibTrans" cxnId="{01ADA771-2BEF-4F07-834B-3DC5D2F0DB26}">
      <dgm:prSet/>
      <dgm:spPr/>
      <dgm:t>
        <a:bodyPr/>
        <a:lstStyle/>
        <a:p>
          <a:endParaRPr lang="en-US"/>
        </a:p>
      </dgm:t>
    </dgm:pt>
    <dgm:pt modelId="{6D816FD4-CB1C-49D9-8DF7-824924E09A7C}">
      <dgm:prSet/>
      <dgm:spPr/>
      <dgm:t>
        <a:bodyPr/>
        <a:lstStyle/>
        <a:p>
          <a:r>
            <a:rPr lang="ru-RU"/>
            <a:t>Единая точка управления3</a:t>
          </a:r>
          <a:endParaRPr lang="en-US"/>
        </a:p>
      </dgm:t>
    </dgm:pt>
    <dgm:pt modelId="{C3211B13-FBFD-4A9B-BADC-71D465FD8E69}" type="parTrans" cxnId="{3BCBCD8E-FECC-473F-8D13-DD53FAEEB509}">
      <dgm:prSet/>
      <dgm:spPr/>
      <dgm:t>
        <a:bodyPr/>
        <a:lstStyle/>
        <a:p>
          <a:endParaRPr lang="en-US"/>
        </a:p>
      </dgm:t>
    </dgm:pt>
    <dgm:pt modelId="{26DC3701-5B73-4D81-A724-B434BF2BB5EB}" type="sibTrans" cxnId="{3BCBCD8E-FECC-473F-8D13-DD53FAEEB509}">
      <dgm:prSet/>
      <dgm:spPr/>
      <dgm:t>
        <a:bodyPr/>
        <a:lstStyle/>
        <a:p>
          <a:endParaRPr lang="en-US"/>
        </a:p>
      </dgm:t>
    </dgm:pt>
    <dgm:pt modelId="{21B0229E-89A3-4B76-AEBB-E89A01AF306B}" type="pres">
      <dgm:prSet presAssocID="{D5833ED0-8FB5-4C9F-A39B-A602A7FA6672}" presName="diagram" presStyleCnt="0">
        <dgm:presLayoutVars>
          <dgm:dir/>
          <dgm:resizeHandles val="exact"/>
        </dgm:presLayoutVars>
      </dgm:prSet>
      <dgm:spPr/>
    </dgm:pt>
    <dgm:pt modelId="{D3E375F0-2245-4217-93D2-8A276A10AE20}" type="pres">
      <dgm:prSet presAssocID="{1943E574-F0A4-4F87-A4AC-10679130E279}" presName="node" presStyleLbl="node1" presStyleIdx="0" presStyleCnt="7">
        <dgm:presLayoutVars>
          <dgm:bulletEnabled val="1"/>
        </dgm:presLayoutVars>
      </dgm:prSet>
      <dgm:spPr/>
    </dgm:pt>
    <dgm:pt modelId="{BBEC921A-1F3D-4C57-BD4C-80321D2486FA}" type="pres">
      <dgm:prSet presAssocID="{854BBD58-6263-4AF5-8CC9-54BEB69F1A4A}" presName="sibTrans" presStyleCnt="0"/>
      <dgm:spPr/>
    </dgm:pt>
    <dgm:pt modelId="{324E5641-84EF-4192-90BC-FA162D96EDCC}" type="pres">
      <dgm:prSet presAssocID="{59FD1EFC-0860-4E65-8F01-75A66079A03B}" presName="node" presStyleLbl="node1" presStyleIdx="1" presStyleCnt="7">
        <dgm:presLayoutVars>
          <dgm:bulletEnabled val="1"/>
        </dgm:presLayoutVars>
      </dgm:prSet>
      <dgm:spPr/>
    </dgm:pt>
    <dgm:pt modelId="{F8D8B89B-D6E1-4279-8F73-44909356E722}" type="pres">
      <dgm:prSet presAssocID="{D5B7F756-1ECF-48EA-88D3-43FCCC839411}" presName="sibTrans" presStyleCnt="0"/>
      <dgm:spPr/>
    </dgm:pt>
    <dgm:pt modelId="{B5D9F801-D778-4439-A8B7-63081B8105CE}" type="pres">
      <dgm:prSet presAssocID="{71FD9BD5-4C74-4EB8-9D6D-AF8FC6834E2E}" presName="node" presStyleLbl="node1" presStyleIdx="2" presStyleCnt="7">
        <dgm:presLayoutVars>
          <dgm:bulletEnabled val="1"/>
        </dgm:presLayoutVars>
      </dgm:prSet>
      <dgm:spPr/>
    </dgm:pt>
    <dgm:pt modelId="{D23059DC-0082-42AD-8535-D21749D8E1C8}" type="pres">
      <dgm:prSet presAssocID="{1204E6DD-2655-42A6-BF97-6D289666FEA4}" presName="sibTrans" presStyleCnt="0"/>
      <dgm:spPr/>
    </dgm:pt>
    <dgm:pt modelId="{1E43DBD5-C235-49DC-BB24-56F4C8A72BC7}" type="pres">
      <dgm:prSet presAssocID="{D0DEB126-8509-4561-852F-C3DA35097BEC}" presName="node" presStyleLbl="node1" presStyleIdx="3" presStyleCnt="7">
        <dgm:presLayoutVars>
          <dgm:bulletEnabled val="1"/>
        </dgm:presLayoutVars>
      </dgm:prSet>
      <dgm:spPr/>
    </dgm:pt>
    <dgm:pt modelId="{EC79754D-DCF3-47A9-B1BB-33D72B6BCD81}" type="pres">
      <dgm:prSet presAssocID="{607C2CA8-D93D-4756-B1FE-CF28DB6F53F8}" presName="sibTrans" presStyleCnt="0"/>
      <dgm:spPr/>
    </dgm:pt>
    <dgm:pt modelId="{F12E548E-2D00-49B6-B866-FF90A8058C13}" type="pres">
      <dgm:prSet presAssocID="{7C11A0DD-695C-42F9-B4F2-B7D12E2FE1B8}" presName="node" presStyleLbl="node1" presStyleIdx="4" presStyleCnt="7">
        <dgm:presLayoutVars>
          <dgm:bulletEnabled val="1"/>
        </dgm:presLayoutVars>
      </dgm:prSet>
      <dgm:spPr/>
    </dgm:pt>
    <dgm:pt modelId="{3DD217BB-1757-431C-BFB1-1B79034239B8}" type="pres">
      <dgm:prSet presAssocID="{29C0B816-C989-4D81-8C0C-799E0D98826C}" presName="sibTrans" presStyleCnt="0"/>
      <dgm:spPr/>
    </dgm:pt>
    <dgm:pt modelId="{3ACFB4FF-CC50-49BF-A35A-AB587CB84970}" type="pres">
      <dgm:prSet presAssocID="{A826FD08-9BC6-4F2D-AFB8-11B155BC0FCF}" presName="node" presStyleLbl="node1" presStyleIdx="5" presStyleCnt="7">
        <dgm:presLayoutVars>
          <dgm:bulletEnabled val="1"/>
        </dgm:presLayoutVars>
      </dgm:prSet>
      <dgm:spPr/>
    </dgm:pt>
    <dgm:pt modelId="{488BE48D-C996-4365-A9E3-10E28C22B0A8}" type="pres">
      <dgm:prSet presAssocID="{B350D26A-329E-41AE-90C4-1414DF094601}" presName="sibTrans" presStyleCnt="0"/>
      <dgm:spPr/>
    </dgm:pt>
    <dgm:pt modelId="{25CB19EA-1B30-41DE-AD9C-817944F91F99}" type="pres">
      <dgm:prSet presAssocID="{6D816FD4-CB1C-49D9-8DF7-824924E09A7C}" presName="node" presStyleLbl="node1" presStyleIdx="6" presStyleCnt="7">
        <dgm:presLayoutVars>
          <dgm:bulletEnabled val="1"/>
        </dgm:presLayoutVars>
      </dgm:prSet>
      <dgm:spPr/>
    </dgm:pt>
  </dgm:ptLst>
  <dgm:cxnLst>
    <dgm:cxn modelId="{5F8FDC09-3008-4B4F-AA48-49F9BFAAEA88}" srcId="{D5833ED0-8FB5-4C9F-A39B-A602A7FA6672}" destId="{D0DEB126-8509-4561-852F-C3DA35097BEC}" srcOrd="3" destOrd="0" parTransId="{0F4E9C76-D4CA-4A9C-B384-C761D5E47638}" sibTransId="{607C2CA8-D93D-4756-B1FE-CF28DB6F53F8}"/>
    <dgm:cxn modelId="{3006352D-31AB-47D9-A62E-A62DEE677CD2}" type="presOf" srcId="{59FD1EFC-0860-4E65-8F01-75A66079A03B}" destId="{324E5641-84EF-4192-90BC-FA162D96EDCC}" srcOrd="0" destOrd="0" presId="urn:microsoft.com/office/officeart/2005/8/layout/default"/>
    <dgm:cxn modelId="{76BBA22F-8569-4832-A960-C64C6FBD7AE7}" type="presOf" srcId="{A826FD08-9BC6-4F2D-AFB8-11B155BC0FCF}" destId="{3ACFB4FF-CC50-49BF-A35A-AB587CB84970}" srcOrd="0" destOrd="0" presId="urn:microsoft.com/office/officeart/2005/8/layout/default"/>
    <dgm:cxn modelId="{F5C47032-FAD3-4252-A83D-DA2CF687A8C0}" type="presOf" srcId="{71FD9BD5-4C74-4EB8-9D6D-AF8FC6834E2E}" destId="{B5D9F801-D778-4439-A8B7-63081B8105CE}" srcOrd="0" destOrd="0" presId="urn:microsoft.com/office/officeart/2005/8/layout/default"/>
    <dgm:cxn modelId="{80968144-3B89-4E65-B93B-4C56247192A0}" srcId="{D5833ED0-8FB5-4C9F-A39B-A602A7FA6672}" destId="{71FD9BD5-4C74-4EB8-9D6D-AF8FC6834E2E}" srcOrd="2" destOrd="0" parTransId="{B7CBC3E1-190B-41A8-920E-D0DB387BB764}" sibTransId="{1204E6DD-2655-42A6-BF97-6D289666FEA4}"/>
    <dgm:cxn modelId="{3844934E-6CA6-4DA3-9E62-C946AE20407D}" type="presOf" srcId="{7C11A0DD-695C-42F9-B4F2-B7D12E2FE1B8}" destId="{F12E548E-2D00-49B6-B866-FF90A8058C13}" srcOrd="0" destOrd="0" presId="urn:microsoft.com/office/officeart/2005/8/layout/default"/>
    <dgm:cxn modelId="{656D5C50-2E2D-4520-90D4-8577145ABC26}" type="presOf" srcId="{1943E574-F0A4-4F87-A4AC-10679130E279}" destId="{D3E375F0-2245-4217-93D2-8A276A10AE20}" srcOrd="0" destOrd="0" presId="urn:microsoft.com/office/officeart/2005/8/layout/default"/>
    <dgm:cxn modelId="{01ADA771-2BEF-4F07-834B-3DC5D2F0DB26}" srcId="{D5833ED0-8FB5-4C9F-A39B-A602A7FA6672}" destId="{A826FD08-9BC6-4F2D-AFB8-11B155BC0FCF}" srcOrd="5" destOrd="0" parTransId="{9085922E-73C4-4247-B9D5-50367CA083DC}" sibTransId="{B350D26A-329E-41AE-90C4-1414DF094601}"/>
    <dgm:cxn modelId="{3AAD167D-81AF-4E90-BC8B-D84428294779}" srcId="{D5833ED0-8FB5-4C9F-A39B-A602A7FA6672}" destId="{59FD1EFC-0860-4E65-8F01-75A66079A03B}" srcOrd="1" destOrd="0" parTransId="{A94FB303-7B18-4B93-A2C8-61D53509AFD2}" sibTransId="{D5B7F756-1ECF-48EA-88D3-43FCCC839411}"/>
    <dgm:cxn modelId="{8ADDB583-F3C0-4DDF-B41A-A7675C7B2DA5}" type="presOf" srcId="{D5833ED0-8FB5-4C9F-A39B-A602A7FA6672}" destId="{21B0229E-89A3-4B76-AEBB-E89A01AF306B}" srcOrd="0" destOrd="0" presId="urn:microsoft.com/office/officeart/2005/8/layout/default"/>
    <dgm:cxn modelId="{C249A585-F69F-4A1D-9383-711368AACB28}" srcId="{D5833ED0-8FB5-4C9F-A39B-A602A7FA6672}" destId="{1943E574-F0A4-4F87-A4AC-10679130E279}" srcOrd="0" destOrd="0" parTransId="{7AB8DF05-37D0-4C7D-B592-52AD2D09E97A}" sibTransId="{854BBD58-6263-4AF5-8CC9-54BEB69F1A4A}"/>
    <dgm:cxn modelId="{3BCBCD8E-FECC-473F-8D13-DD53FAEEB509}" srcId="{D5833ED0-8FB5-4C9F-A39B-A602A7FA6672}" destId="{6D816FD4-CB1C-49D9-8DF7-824924E09A7C}" srcOrd="6" destOrd="0" parTransId="{C3211B13-FBFD-4A9B-BADC-71D465FD8E69}" sibTransId="{26DC3701-5B73-4D81-A724-B434BF2BB5EB}"/>
    <dgm:cxn modelId="{EB687FA5-CE00-4F0B-8661-4E702E9C39FB}" type="presOf" srcId="{D0DEB126-8509-4561-852F-C3DA35097BEC}" destId="{1E43DBD5-C235-49DC-BB24-56F4C8A72BC7}" srcOrd="0" destOrd="0" presId="urn:microsoft.com/office/officeart/2005/8/layout/default"/>
    <dgm:cxn modelId="{D9D71DBC-08BA-4DA3-BC6D-8B14EDFC5D72}" type="presOf" srcId="{6D816FD4-CB1C-49D9-8DF7-824924E09A7C}" destId="{25CB19EA-1B30-41DE-AD9C-817944F91F99}" srcOrd="0" destOrd="0" presId="urn:microsoft.com/office/officeart/2005/8/layout/default"/>
    <dgm:cxn modelId="{684D80FB-754E-4768-8F09-5307343FBADF}" srcId="{D5833ED0-8FB5-4C9F-A39B-A602A7FA6672}" destId="{7C11A0DD-695C-42F9-B4F2-B7D12E2FE1B8}" srcOrd="4" destOrd="0" parTransId="{787DA740-ED2E-4641-9CA3-D9CB3AD5E42E}" sibTransId="{29C0B816-C989-4D81-8C0C-799E0D98826C}"/>
    <dgm:cxn modelId="{F4B49EBD-A9C4-46DB-8E34-C3A64CD20356}" type="presParOf" srcId="{21B0229E-89A3-4B76-AEBB-E89A01AF306B}" destId="{D3E375F0-2245-4217-93D2-8A276A10AE20}" srcOrd="0" destOrd="0" presId="urn:microsoft.com/office/officeart/2005/8/layout/default"/>
    <dgm:cxn modelId="{51FF9D7A-3C29-4F95-B0B3-63506F7CDCB9}" type="presParOf" srcId="{21B0229E-89A3-4B76-AEBB-E89A01AF306B}" destId="{BBEC921A-1F3D-4C57-BD4C-80321D2486FA}" srcOrd="1" destOrd="0" presId="urn:microsoft.com/office/officeart/2005/8/layout/default"/>
    <dgm:cxn modelId="{E5B277B8-9CF8-499A-B932-C8D7F93EDF9A}" type="presParOf" srcId="{21B0229E-89A3-4B76-AEBB-E89A01AF306B}" destId="{324E5641-84EF-4192-90BC-FA162D96EDCC}" srcOrd="2" destOrd="0" presId="urn:microsoft.com/office/officeart/2005/8/layout/default"/>
    <dgm:cxn modelId="{0F40A027-E6EB-4F1A-A773-3EB5C765B1AC}" type="presParOf" srcId="{21B0229E-89A3-4B76-AEBB-E89A01AF306B}" destId="{F8D8B89B-D6E1-4279-8F73-44909356E722}" srcOrd="3" destOrd="0" presId="urn:microsoft.com/office/officeart/2005/8/layout/default"/>
    <dgm:cxn modelId="{2E5617DD-4F69-46E0-A203-78AF7CF320B9}" type="presParOf" srcId="{21B0229E-89A3-4B76-AEBB-E89A01AF306B}" destId="{B5D9F801-D778-4439-A8B7-63081B8105CE}" srcOrd="4" destOrd="0" presId="urn:microsoft.com/office/officeart/2005/8/layout/default"/>
    <dgm:cxn modelId="{7C81DC52-424B-4629-B0AA-16C2D972F08C}" type="presParOf" srcId="{21B0229E-89A3-4B76-AEBB-E89A01AF306B}" destId="{D23059DC-0082-42AD-8535-D21749D8E1C8}" srcOrd="5" destOrd="0" presId="urn:microsoft.com/office/officeart/2005/8/layout/default"/>
    <dgm:cxn modelId="{88F88D43-598C-439A-86A0-30BFEF3C54F1}" type="presParOf" srcId="{21B0229E-89A3-4B76-AEBB-E89A01AF306B}" destId="{1E43DBD5-C235-49DC-BB24-56F4C8A72BC7}" srcOrd="6" destOrd="0" presId="urn:microsoft.com/office/officeart/2005/8/layout/default"/>
    <dgm:cxn modelId="{EEB53F3C-B227-4758-B13E-6CC745A18397}" type="presParOf" srcId="{21B0229E-89A3-4B76-AEBB-E89A01AF306B}" destId="{EC79754D-DCF3-47A9-B1BB-33D72B6BCD81}" srcOrd="7" destOrd="0" presId="urn:microsoft.com/office/officeart/2005/8/layout/default"/>
    <dgm:cxn modelId="{7762D4B2-11F5-4358-B65E-C040FF757A38}" type="presParOf" srcId="{21B0229E-89A3-4B76-AEBB-E89A01AF306B}" destId="{F12E548E-2D00-49B6-B866-FF90A8058C13}" srcOrd="8" destOrd="0" presId="urn:microsoft.com/office/officeart/2005/8/layout/default"/>
    <dgm:cxn modelId="{1E19C327-AC55-4B0A-967B-6F8C5B249DEB}" type="presParOf" srcId="{21B0229E-89A3-4B76-AEBB-E89A01AF306B}" destId="{3DD217BB-1757-431C-BFB1-1B79034239B8}" srcOrd="9" destOrd="0" presId="urn:microsoft.com/office/officeart/2005/8/layout/default"/>
    <dgm:cxn modelId="{1E4B2837-2840-450D-B233-F33487FADF2E}" type="presParOf" srcId="{21B0229E-89A3-4B76-AEBB-E89A01AF306B}" destId="{3ACFB4FF-CC50-49BF-A35A-AB587CB84970}" srcOrd="10" destOrd="0" presId="urn:microsoft.com/office/officeart/2005/8/layout/default"/>
    <dgm:cxn modelId="{5E94E9F1-DE91-49B8-8F6A-B2350B56FDC5}" type="presParOf" srcId="{21B0229E-89A3-4B76-AEBB-E89A01AF306B}" destId="{488BE48D-C996-4365-A9E3-10E28C22B0A8}" srcOrd="11" destOrd="0" presId="urn:microsoft.com/office/officeart/2005/8/layout/default"/>
    <dgm:cxn modelId="{5D338AFC-79D0-40E9-A4BA-3A9832C8210D}" type="presParOf" srcId="{21B0229E-89A3-4B76-AEBB-E89A01AF306B}" destId="{25CB19EA-1B30-41DE-AD9C-817944F91F99}" srcOrd="1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3E375F0-2245-4217-93D2-8A276A10AE20}">
      <dsp:nvSpPr>
        <dsp:cNvPr id="0" name=""/>
        <dsp:cNvSpPr/>
      </dsp:nvSpPr>
      <dsp:spPr>
        <a:xfrm>
          <a:off x="3201" y="445489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Offline-first подход</a:t>
          </a:r>
          <a:endParaRPr lang="en-US" sz="2100" kern="1200"/>
        </a:p>
      </dsp:txBody>
      <dsp:txXfrm>
        <a:off x="3201" y="445489"/>
        <a:ext cx="2539866" cy="1523919"/>
      </dsp:txXfrm>
    </dsp:sp>
    <dsp:sp modelId="{324E5641-84EF-4192-90BC-FA162D96EDCC}">
      <dsp:nvSpPr>
        <dsp:cNvPr id="0" name=""/>
        <dsp:cNvSpPr/>
      </dsp:nvSpPr>
      <dsp:spPr>
        <a:xfrm>
          <a:off x="2797054" y="445489"/>
          <a:ext cx="2539866" cy="15239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Работа без интернета</a:t>
          </a:r>
          <a:endParaRPr lang="en-US" sz="2100" kern="1200"/>
        </a:p>
      </dsp:txBody>
      <dsp:txXfrm>
        <a:off x="2797054" y="445489"/>
        <a:ext cx="2539866" cy="1523919"/>
      </dsp:txXfrm>
    </dsp:sp>
    <dsp:sp modelId="{B5D9F801-D778-4439-A8B7-63081B8105CE}">
      <dsp:nvSpPr>
        <dsp:cNvPr id="0" name=""/>
        <dsp:cNvSpPr/>
      </dsp:nvSpPr>
      <dsp:spPr>
        <a:xfrm>
          <a:off x="5590907" y="445489"/>
          <a:ext cx="2539866" cy="1523919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Автоматическая синхронизация при подключении</a:t>
          </a:r>
          <a:endParaRPr lang="en-US" sz="2100" kern="1200"/>
        </a:p>
      </dsp:txBody>
      <dsp:txXfrm>
        <a:off x="5590907" y="445489"/>
        <a:ext cx="2539866" cy="1523919"/>
      </dsp:txXfrm>
    </dsp:sp>
    <dsp:sp modelId="{1E43DBD5-C235-49DC-BB24-56F4C8A72BC7}">
      <dsp:nvSpPr>
        <dsp:cNvPr id="0" name=""/>
        <dsp:cNvSpPr/>
      </dsp:nvSpPr>
      <dsp:spPr>
        <a:xfrm>
          <a:off x="8384760" y="445489"/>
          <a:ext cx="2539866" cy="1523919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Семейная синхронизация</a:t>
          </a:r>
          <a:endParaRPr lang="en-US" sz="2100" kern="1200"/>
        </a:p>
      </dsp:txBody>
      <dsp:txXfrm>
        <a:off x="8384760" y="445489"/>
        <a:ext cx="2539866" cy="1523919"/>
      </dsp:txXfrm>
    </dsp:sp>
    <dsp:sp modelId="{F12E548E-2D00-49B6-B866-FF90A8058C13}">
      <dsp:nvSpPr>
        <dsp:cNvPr id="0" name=""/>
        <dsp:cNvSpPr/>
      </dsp:nvSpPr>
      <dsp:spPr>
        <a:xfrm>
          <a:off x="1400128" y="2223395"/>
          <a:ext cx="2539866" cy="1523919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Все члены семьи видят актуальные данные</a:t>
          </a:r>
          <a:endParaRPr lang="en-US" sz="2100" kern="1200"/>
        </a:p>
      </dsp:txBody>
      <dsp:txXfrm>
        <a:off x="1400128" y="2223395"/>
        <a:ext cx="2539866" cy="1523919"/>
      </dsp:txXfrm>
    </dsp:sp>
    <dsp:sp modelId="{3ACFB4FF-CC50-49BF-A35A-AB587CB84970}">
      <dsp:nvSpPr>
        <dsp:cNvPr id="0" name=""/>
        <dsp:cNvSpPr/>
      </dsp:nvSpPr>
      <dsp:spPr>
        <a:xfrm>
          <a:off x="4193981" y="2223395"/>
          <a:ext cx="2539866" cy="1523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Изменения синхронизируются в реальном времени</a:t>
          </a:r>
          <a:endParaRPr lang="en-US" sz="2100" kern="1200"/>
        </a:p>
      </dsp:txBody>
      <dsp:txXfrm>
        <a:off x="4193981" y="2223395"/>
        <a:ext cx="2539866" cy="1523919"/>
      </dsp:txXfrm>
    </dsp:sp>
    <dsp:sp modelId="{25CB19EA-1B30-41DE-AD9C-817944F91F99}">
      <dsp:nvSpPr>
        <dsp:cNvPr id="0" name=""/>
        <dsp:cNvSpPr/>
      </dsp:nvSpPr>
      <dsp:spPr>
        <a:xfrm>
          <a:off x="6987834" y="2223395"/>
          <a:ext cx="2539866" cy="1523919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100" kern="1200"/>
            <a:t>Единая точка управления3</a:t>
          </a:r>
          <a:endParaRPr lang="en-US" sz="2100" kern="1200"/>
        </a:p>
      </dsp:txBody>
      <dsp:txXfrm>
        <a:off x="6987834" y="2223395"/>
        <a:ext cx="2539866" cy="15239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80FD6C9-BACE-2A7C-36D6-717A8EF09E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984A8F7-65BF-9A5A-1FB3-096D3101F4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124C5B4-E115-4FC0-E32F-1E9110BEB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48C1-65BE-417F-BD87-C97053B71E8F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7D96BFE-222C-581F-953B-1AAC3FF938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8ABE863-FF6F-0F5D-A527-4A8C566FA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8F18-1288-42A8-8463-B2F58FE319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045149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6CE84D-CC8E-F63A-F266-7DE94D670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86DA9A-9769-051C-0F44-C902F609E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FA5B3C8-ECF3-C049-C4A9-03ECC371C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48C1-65BE-417F-BD87-C97053B71E8F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7CE3CE-9D08-CB69-EB3A-61B630B21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BF15DCA-E84E-2DD9-5B0B-9F92409E31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8F18-1288-42A8-8463-B2F58FE319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839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7BF98F-9C37-72BA-3089-D28E8255BA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E4C05F7-FD29-DACA-9804-7D9FB0D1E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B7FA2E-8CAF-691C-B10E-B4C4C0C148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48C1-65BE-417F-BD87-C97053B71E8F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2F8F371-B5AB-9D14-6917-D7EA736CF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A7FD172-6278-9C01-2EE6-DDBD19809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8F18-1288-42A8-8463-B2F58FE319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63865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E3FD44-275F-578B-B1F3-BF0CFC21B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DC3B9F-1352-8EA8-08CA-71229D992C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6B094FB-45B2-5211-3E6F-44CBB3CB02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893305-E9AF-6029-023F-E488E36BA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48C1-65BE-417F-BD87-C97053B71E8F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116E7E-A6C4-235E-9525-ABDBA8451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8AEF52-1DA2-6C36-FBCB-166BA2CE90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8F18-1288-42A8-8463-B2F58FE319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14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DE718B-55DC-2BAF-29D0-1D780B386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F07DE5E-1BEB-214E-7D64-2C4BC8C80A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D852E88-12D9-B8EE-76A3-CD530D3F21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520214E-DD9E-48E3-E77C-A2260FFBF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7BACA63-2111-A40D-97E5-6F7B9A283C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DA0C30FD-48B0-CCD3-BD90-2CDBE0BEB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48C1-65BE-417F-BD87-C97053B71E8F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9857A6F-BD31-8D03-280B-25A7E87C2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85D298C-C908-82C6-FF17-7CFC51CB2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8F18-1288-42A8-8463-B2F58FE319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6628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5B9991-CCBD-24DA-117B-259D474B5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F26BCFC5-6074-DB9A-4BEA-7C05E87F6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48C1-65BE-417F-BD87-C97053B71E8F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916CD20-73B0-4606-0B02-F81FFEBDA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63CB830E-47EA-96B8-CE3A-2D153A888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8F18-1288-42A8-8463-B2F58FE319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156566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21263BF8-EE5A-7EC6-5240-963C14B588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48C1-65BE-417F-BD87-C97053B71E8F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0EBA994-0A64-2862-3DF7-E4AD00825A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E0C30C5-5B36-95E0-34AE-62331FD6C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8F18-1288-42A8-8463-B2F58FE319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2413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36F0C1-AD90-7F96-6E8D-DAFE4B08E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F08904-6F18-83C4-984A-FF52520EC3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D776ADD-9998-3922-088F-0084202B08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5DAA9DE-EAAE-3DCE-537D-964F182EA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48C1-65BE-417F-BD87-C97053B71E8F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D17A162-F05C-2228-01FA-FE4A4E9E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7406A1E-BECE-945F-8322-4A75DCC01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8F18-1288-42A8-8463-B2F58FE319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1408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64CF05-8904-AC11-10FC-C23870FA9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D7DFCF1-6C0A-23C5-1CC6-F47DAC2049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93803B3B-1174-7EB4-C4C0-938AAEFCD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16CDCC36-2A5E-4690-5E43-8CCD201B94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48C1-65BE-417F-BD87-C97053B71E8F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5EB2613-BDCB-41DA-B6E5-7CE894824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9D12308-06A7-61BD-6832-775BA0AF1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8F18-1288-42A8-8463-B2F58FE319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7816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35220A-C4A0-844C-F41B-B250A71B5E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FE20CD08-6C1D-5F9F-FAA8-DD5BB1C97B7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46945B8-3744-7C50-5E17-338D47652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48C1-65BE-417F-BD87-C97053B71E8F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C2ACB58-A597-A786-EA69-F90B4CC88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4F457FE-50E9-3380-FA40-0C417148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8F18-1288-42A8-8463-B2F58FE319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69857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A77A1F3B-1059-DAA4-A14F-CD9F44A0A5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E659C91-DF17-11AC-D7A3-B205FF5E1F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21CB4C-3509-6AEE-EDF0-518E4805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D48C1-65BE-417F-BD87-C97053B71E8F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8F0E42A-8A27-49D1-D53D-08033FB0D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95EB2A-2EDB-422A-13FD-D437B3688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7B8F18-1288-42A8-8463-B2F58FE319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0159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6D68D6C-0146-257F-5A79-A5907F43EF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1A59A3E-89AF-4C7C-0C18-E1B4DBCF74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D93DEA8-C251-7AD4-6E30-F35AADF0B0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9D48C1-65BE-417F-BD87-C97053B71E8F}" type="datetimeFigureOut">
              <a:rPr lang="ru-RU" smtClean="0"/>
              <a:t>20.12.2025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22E42E-6F72-AA4E-40C0-D1698CC91E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4A528D8-353D-A064-48C6-10A85FC487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7B8F18-1288-42A8-8463-B2F58FE3198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3999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3DDF424-BB24-2189-FFCE-00BEC2515A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5200" y="1383528"/>
            <a:ext cx="5925989" cy="3167510"/>
          </a:xfrm>
        </p:spPr>
        <p:txBody>
          <a:bodyPr anchor="b">
            <a:normAutofit/>
          </a:bodyPr>
          <a:lstStyle/>
          <a:p>
            <a:pPr algn="r"/>
            <a:r>
              <a:rPr lang="en-US" sz="9600"/>
              <a:t>SubTracker</a:t>
            </a:r>
            <a:endParaRPr lang="ru-RU" sz="960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F14DF6A-0F17-1733-8EE4-884C82E85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5201" y="4582814"/>
            <a:ext cx="5925987" cy="1312657"/>
          </a:xfrm>
        </p:spPr>
        <p:txBody>
          <a:bodyPr anchor="t">
            <a:normAutofit/>
          </a:bodyPr>
          <a:lstStyle/>
          <a:p>
            <a:pPr algn="r"/>
            <a:r>
              <a:rPr lang="ru-RU" dirty="0"/>
              <a:t>Работу выполнил: Муталибов </a:t>
            </a:r>
            <a:r>
              <a:rPr lang="ru-RU" dirty="0" err="1"/>
              <a:t>Амируллах</a:t>
            </a:r>
            <a:endParaRPr lang="ru-RU"/>
          </a:p>
        </p:txBody>
      </p:sp>
      <p:pic>
        <p:nvPicPr>
          <p:cNvPr id="5" name="Рисунок 4" descr="Изображение выглядит как символ, логотип, круг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19904D3-BF65-F2F9-04FC-812651AFF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74525" y="2471997"/>
            <a:ext cx="1727740" cy="172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9092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Кнопка Подписки Вектор Плоский Символ Знака Подписки — стоковая векторная  графика и другие изображения на тему Бизнес - iStock">
            <a:extLst>
              <a:ext uri="{FF2B5EF4-FFF2-40B4-BE49-F238E27FC236}">
                <a16:creationId xmlns:a16="http://schemas.microsoft.com/office/drawing/2014/main" id="{ED0F825D-E41E-B8FA-1023-A242C6CEB2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98" r="16703"/>
          <a:stretch>
            <a:fillRect/>
          </a:stretch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2F8DCF-DB32-6B12-A450-D5BA479EB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ru-RU" sz="4000"/>
              <a:t> Проблема и решение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1BC47E6-B921-720A-4A48-3A5FDC877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1900"/>
              <a:t>Семьи тратят значительные суммы на подписки (Netflix, Spotify, YouTube Premium и др.)</a:t>
            </a:r>
            <a:endParaRPr lang="en-US" sz="1900"/>
          </a:p>
          <a:p>
            <a:pPr marL="0" indent="0">
              <a:buNone/>
            </a:pPr>
            <a:r>
              <a:rPr lang="ru-RU" sz="1900"/>
              <a:t>Сложно отслеживать все активные подписки</a:t>
            </a:r>
            <a:endParaRPr lang="en-US" sz="1900"/>
          </a:p>
          <a:p>
            <a:pPr marL="0" indent="0">
              <a:buNone/>
            </a:pPr>
            <a:r>
              <a:rPr lang="ru-RU" sz="1900"/>
              <a:t>Нет единого места для управления семейными расходами</a:t>
            </a:r>
            <a:endParaRPr lang="en-US" sz="1900"/>
          </a:p>
          <a:p>
            <a:pPr marL="0" indent="0">
              <a:buNone/>
            </a:pPr>
            <a:r>
              <a:rPr lang="ru-RU" sz="1900"/>
              <a:t>Риск пропустить платежи и потерять деньги</a:t>
            </a:r>
            <a:endParaRPr lang="en-US" sz="1900"/>
          </a:p>
          <a:p>
            <a:pPr marL="0" indent="0">
              <a:buNone/>
            </a:pPr>
            <a:r>
              <a:rPr lang="ru-RU" sz="1900"/>
              <a:t>Отсутствие прозрачности в семейных финансах</a:t>
            </a:r>
          </a:p>
        </p:txBody>
      </p:sp>
    </p:spTree>
    <p:extLst>
      <p:ext uri="{BB962C8B-B14F-4D97-AF65-F5344CB8AC3E}">
        <p14:creationId xmlns:p14="http://schemas.microsoft.com/office/powerpoint/2010/main" val="4042476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768E18-66FA-E55A-6619-6F6D691763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Основной функционал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79A77A-EA38-B64E-398C-90D41B4D4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1550" y="1552575"/>
            <a:ext cx="11220450" cy="5200650"/>
          </a:xfrm>
        </p:spPr>
        <p:txBody>
          <a:bodyPr>
            <a:normAutofit lnSpcReduction="10000"/>
          </a:bodyPr>
          <a:lstStyle/>
          <a:p>
            <a:pPr marL="514350" indent="-514350">
              <a:buAutoNum type="arabicPeriod"/>
            </a:pPr>
            <a:r>
              <a:rPr lang="ru-RU" sz="1200" dirty="0"/>
              <a:t>Управление подписками</a:t>
            </a:r>
          </a:p>
          <a:p>
            <a:pPr marL="514350" indent="-514350">
              <a:buAutoNum type="arabicPeriod"/>
            </a:pPr>
            <a:r>
              <a:rPr lang="ru-RU" sz="1200" dirty="0"/>
              <a:t>Добавление подписок (100+ предустановленных сервисов: </a:t>
            </a:r>
            <a:r>
              <a:rPr lang="ru-RU" sz="1200" dirty="0" err="1"/>
              <a:t>Netflix</a:t>
            </a:r>
            <a:r>
              <a:rPr lang="ru-RU" sz="1200" dirty="0"/>
              <a:t>, </a:t>
            </a:r>
            <a:r>
              <a:rPr lang="ru-RU" sz="1200" dirty="0" err="1"/>
              <a:t>Spotify</a:t>
            </a:r>
            <a:r>
              <a:rPr lang="ru-RU" sz="1200" dirty="0"/>
              <a:t>, YouTube, Disney+, и др.)</a:t>
            </a:r>
          </a:p>
          <a:p>
            <a:pPr marL="514350" indent="-514350">
              <a:buAutoNum type="arabicPeriod"/>
            </a:pPr>
            <a:r>
              <a:rPr lang="ru-RU" sz="1200" dirty="0"/>
              <a:t>Редактирование: название, цена, периодичность, дата следующего платежа</a:t>
            </a:r>
          </a:p>
          <a:p>
            <a:pPr marL="514350" indent="-514350">
              <a:buAutoNum type="arabicPeriod"/>
            </a:pPr>
            <a:r>
              <a:rPr lang="ru-RU" sz="1200" dirty="0"/>
              <a:t>Удаление подписок</a:t>
            </a:r>
          </a:p>
          <a:p>
            <a:pPr marL="514350" indent="-514350">
              <a:buAutoNum type="arabicPeriod"/>
            </a:pPr>
            <a:r>
              <a:rPr lang="ru-RU" sz="1200" dirty="0"/>
              <a:t>Отметка оплаты с автоматическим пересчетом даты. Семейный доступ</a:t>
            </a:r>
          </a:p>
          <a:p>
            <a:pPr marL="514350" indent="-514350">
              <a:buAutoNum type="arabicPeriod"/>
            </a:pPr>
            <a:r>
              <a:rPr lang="ru-RU" sz="1200" dirty="0"/>
              <a:t>Создание семьи с уникальным кодом</a:t>
            </a:r>
          </a:p>
          <a:p>
            <a:pPr marL="514350" indent="-514350">
              <a:buAutoNum type="arabicPeriod"/>
            </a:pPr>
            <a:r>
              <a:rPr lang="ru-RU" sz="1200" dirty="0"/>
              <a:t>Присоединение по коду</a:t>
            </a:r>
          </a:p>
          <a:p>
            <a:pPr marL="514350" indent="-514350">
              <a:buAutoNum type="arabicPeriod"/>
            </a:pPr>
            <a:r>
              <a:rPr lang="ru-RU" sz="1200" dirty="0"/>
              <a:t>Вход через Google или по имени пользователя</a:t>
            </a:r>
          </a:p>
          <a:p>
            <a:pPr marL="514350" indent="-514350">
              <a:buAutoNum type="arabicPeriod"/>
            </a:pPr>
            <a:r>
              <a:rPr lang="ru-RU" sz="1200" dirty="0"/>
              <a:t>Гостевой режим для быстрого доступа</a:t>
            </a:r>
          </a:p>
          <a:p>
            <a:pPr marL="514350" indent="-514350">
              <a:buAutoNum type="arabicPeriod"/>
            </a:pPr>
            <a:r>
              <a:rPr lang="ru-RU" sz="1200" dirty="0"/>
              <a:t>Роли: администратор и участник, гость. </a:t>
            </a:r>
          </a:p>
          <a:p>
            <a:pPr marL="514350" indent="-514350">
              <a:buAutoNum type="arabicPeriod"/>
            </a:pPr>
            <a:r>
              <a:rPr lang="ru-RU" sz="1200" dirty="0"/>
              <a:t>Статистика и аналитика</a:t>
            </a:r>
          </a:p>
          <a:p>
            <a:pPr marL="514350" indent="-514350">
              <a:buAutoNum type="arabicPeriod"/>
            </a:pPr>
            <a:r>
              <a:rPr lang="ru-RU" sz="1200" dirty="0"/>
              <a:t>История всех платежей</a:t>
            </a:r>
          </a:p>
          <a:p>
            <a:pPr marL="514350" indent="-514350">
              <a:buAutoNum type="arabicPeriod"/>
            </a:pPr>
            <a:r>
              <a:rPr lang="ru-RU" sz="1200" dirty="0"/>
              <a:t>Фильтрация по пользователям</a:t>
            </a:r>
          </a:p>
          <a:p>
            <a:pPr marL="514350" indent="-514350">
              <a:buAutoNum type="arabicPeriod"/>
            </a:pPr>
            <a:r>
              <a:rPr lang="ru-RU" sz="1200" dirty="0"/>
              <a:t>Сортировка по цене и дате</a:t>
            </a:r>
          </a:p>
          <a:p>
            <a:pPr marL="514350" indent="-514350">
              <a:buAutoNum type="arabicPeriod"/>
            </a:pPr>
            <a:r>
              <a:rPr lang="ru-RU" sz="1200" dirty="0"/>
              <a:t>Напоминания о платежах (ежедневные уведомления)</a:t>
            </a:r>
          </a:p>
          <a:p>
            <a:pPr marL="514350" indent="-514350">
              <a:buAutoNum type="arabicPeriod"/>
            </a:pPr>
            <a:r>
              <a:rPr lang="ru-RU" sz="1200" dirty="0"/>
              <a:t>Экспорт данных в CSV</a:t>
            </a:r>
          </a:p>
          <a:p>
            <a:pPr marL="514350" indent="-514350">
              <a:buAutoNum type="arabicPeriod"/>
            </a:pPr>
            <a:r>
              <a:rPr lang="ru-RU" sz="1200" dirty="0"/>
              <a:t>Темная и светлая темы</a:t>
            </a:r>
          </a:p>
          <a:p>
            <a:pPr marL="514350" indent="-514350">
              <a:buAutoNum type="arabicPeriod"/>
            </a:pPr>
            <a:r>
              <a:rPr lang="ru-RU" sz="1200" dirty="0"/>
              <a:t>Адаптация под горизонтальную ориентацию</a:t>
            </a:r>
          </a:p>
          <a:p>
            <a:pPr marL="514350" indent="-514350">
              <a:buAutoNum type="arabicPeriod"/>
            </a:pPr>
            <a:r>
              <a:rPr lang="ru-RU" sz="1200" dirty="0"/>
              <a:t>Управление аватарами пользователей</a:t>
            </a:r>
          </a:p>
        </p:txBody>
      </p:sp>
    </p:spTree>
    <p:extLst>
      <p:ext uri="{BB962C8B-B14F-4D97-AF65-F5344CB8AC3E}">
        <p14:creationId xmlns:p14="http://schemas.microsoft.com/office/powerpoint/2010/main" val="42535283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EF085B8-A2C0-4A6F-B663-CCC56F3CD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3324"/>
            <a:ext cx="12192000" cy="686132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2658F6D6-96E0-421A-96D6-3DF4040085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786754" cy="6858000"/>
          </a:xfrm>
          <a:custGeom>
            <a:avLst/>
            <a:gdLst>
              <a:gd name="connsiteX0" fmla="*/ 0 w 11786754"/>
              <a:gd name="connsiteY0" fmla="*/ 0 h 6858000"/>
              <a:gd name="connsiteX1" fmla="*/ 8610600 w 11786754"/>
              <a:gd name="connsiteY1" fmla="*/ 0 h 6858000"/>
              <a:gd name="connsiteX2" fmla="*/ 11786754 w 11786754"/>
              <a:gd name="connsiteY2" fmla="*/ 6858000 h 6858000"/>
              <a:gd name="connsiteX3" fmla="*/ 0 w 1178675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786754" h="6858000">
                <a:moveTo>
                  <a:pt x="0" y="0"/>
                </a:moveTo>
                <a:lnTo>
                  <a:pt x="8610600" y="0"/>
                </a:lnTo>
                <a:lnTo>
                  <a:pt x="11786754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3CF62545-93A0-4FD5-9B48-48DCA794CB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581400" cy="6858000"/>
          </a:xfrm>
          <a:custGeom>
            <a:avLst/>
            <a:gdLst>
              <a:gd name="connsiteX0" fmla="*/ 0 w 3581400"/>
              <a:gd name="connsiteY0" fmla="*/ 0 h 6858000"/>
              <a:gd name="connsiteX1" fmla="*/ 405246 w 3581400"/>
              <a:gd name="connsiteY1" fmla="*/ 0 h 6858000"/>
              <a:gd name="connsiteX2" fmla="*/ 3581400 w 3581400"/>
              <a:gd name="connsiteY2" fmla="*/ 6858000 h 6858000"/>
              <a:gd name="connsiteX3" fmla="*/ 0 w 3581400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81400" h="6858000">
                <a:moveTo>
                  <a:pt x="0" y="0"/>
                </a:moveTo>
                <a:lnTo>
                  <a:pt x="405246" y="0"/>
                </a:lnTo>
                <a:lnTo>
                  <a:pt x="358140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A8CB91-BD3F-80DA-F815-E6B8576B7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Архитектура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1664DDC-D057-7A39-59DD-BF4BE9B4A7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10833"/>
            <a:ext cx="5096934" cy="4166130"/>
          </a:xfrm>
        </p:spPr>
        <p:txBody>
          <a:bodyPr vert="horz" lIns="91440" tIns="45720" rIns="91440" bIns="45720" rtlCol="0">
            <a:normAutofit/>
          </a:bodyPr>
          <a:lstStyle/>
          <a:p>
            <a:pPr marL="0"/>
            <a:r>
              <a:rPr lang="en-US" sz="1100"/>
              <a:t>Трехслойная архитектура:</a:t>
            </a:r>
          </a:p>
          <a:p>
            <a:pPr marL="0"/>
            <a:r>
              <a:rPr lang="en-US" sz="1100"/>
              <a:t>1. Presentation Layer (UI)</a:t>
            </a:r>
          </a:p>
          <a:p>
            <a:pPr marL="0"/>
            <a:r>
              <a:rPr lang="en-US" sz="1100"/>
              <a:t>   • Activities: MainActivity, MainFrameActivity, SettingsActivity, StatsActivity, AddSubscriptionActivity</a:t>
            </a:r>
          </a:p>
          <a:p>
            <a:pPr marL="0"/>
            <a:r>
              <a:rPr lang="en-US" sz="1100"/>
              <a:t>   • ViewModels: управление состоянием UI, реактивность</a:t>
            </a:r>
          </a:p>
          <a:p>
            <a:pPr marL="0"/>
            <a:r>
              <a:rPr lang="en-US" sz="1100"/>
              <a:t>   • UI State: централизованное состояние интерфейса</a:t>
            </a:r>
          </a:p>
          <a:p>
            <a:pPr marL="0"/>
            <a:r>
              <a:rPr lang="en-US" sz="1100"/>
              <a:t>   • Adapters: RecyclerView адаптеры для списков</a:t>
            </a:r>
          </a:p>
          <a:p>
            <a:pPr marL="0"/>
            <a:r>
              <a:rPr lang="en-US" sz="1100"/>
              <a:t>2. Domain Layer (Бизнес-логика)</a:t>
            </a:r>
          </a:p>
          <a:p>
            <a:pPr marL="0"/>
            <a:r>
              <a:rPr lang="en-US" sz="1100"/>
              <a:t>   • Use Cases: изолированная бизнес-логика</a:t>
            </a:r>
          </a:p>
          <a:p>
            <a:pPr marL="0"/>
            <a:r>
              <a:rPr lang="en-US" sz="1100"/>
              <a:t>     - CreateSubscriptionUseCase, UpdateSubscriptionUseCase</a:t>
            </a:r>
          </a:p>
          <a:p>
            <a:pPr marL="0"/>
            <a:r>
              <a:rPr lang="en-US" sz="1100"/>
              <a:t>     - PaySubscriptionUseCase, DeleteSubscriptionUseCase</a:t>
            </a:r>
          </a:p>
          <a:p>
            <a:pPr marL="0"/>
            <a:r>
              <a:rPr lang="en-US" sz="1100"/>
              <a:t>     - JoinFamilyUseCase, CreateFamilyUseCase</a:t>
            </a:r>
          </a:p>
          <a:p>
            <a:pPr marL="0"/>
            <a:r>
              <a:rPr lang="en-US" sz="1100"/>
              <a:t>   • Models: доменные модели данных (Subscription, Payment, User)</a:t>
            </a:r>
          </a:p>
          <a:p>
            <a:pPr marL="0"/>
            <a:r>
              <a:rPr lang="en-US" sz="1100"/>
              <a:t>   • Repository Interfaces: абстракция источников данных</a:t>
            </a:r>
          </a:p>
          <a:p>
            <a:pPr marL="0"/>
            <a:endParaRPr lang="en-US" sz="1100"/>
          </a:p>
          <a:p>
            <a:pPr marL="0"/>
            <a:endParaRPr lang="en-US" sz="1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81D5B1-1F91-F0F3-290B-235B27C45C5C}"/>
              </a:ext>
            </a:extLst>
          </p:cNvPr>
          <p:cNvSpPr txBox="1"/>
          <p:nvPr/>
        </p:nvSpPr>
        <p:spPr>
          <a:xfrm>
            <a:off x="6256866" y="2010833"/>
            <a:ext cx="5096933" cy="41661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3. Data Layer (Данные)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• Room Database: локальное хранение (offline-first) - 4 таблицы: subscriptions, payments, users, pending_actions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• Firestore: облачная синхронизация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• Repositories: реализация источников данных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• Mappers: преобразование между слоями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Паттерн: MVVM (Model-View-ViewModel) Синхронизация: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• PendingActions - очередь отложенных действий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• WorkManager - фоновая синхронизация 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1700"/>
              <a:t>• BootReceiver - перепланирование после перезагрузки</a:t>
            </a:r>
          </a:p>
        </p:txBody>
      </p:sp>
    </p:spTree>
    <p:extLst>
      <p:ext uri="{BB962C8B-B14F-4D97-AF65-F5344CB8AC3E}">
        <p14:creationId xmlns:p14="http://schemas.microsoft.com/office/powerpoint/2010/main" val="15927653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8841FBF-6420-C7A3-2321-94F23A2AE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>
                <a:solidFill>
                  <a:srgbClr val="FFFFFF"/>
                </a:solidFill>
              </a:rPr>
              <a:t>Стек технологий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FE9AB6B8-BE04-E7E4-9DF9-6999F8439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ru-RU" sz="700"/>
              <a:t>Таблица </a:t>
            </a:r>
            <a:r>
              <a:rPr lang="en-US" sz="700"/>
              <a:t>subscriptions:</a:t>
            </a:r>
            <a:endParaRPr lang="ru-RU" sz="700"/>
          </a:p>
          <a:p>
            <a:r>
              <a:rPr lang="en-US" sz="700"/>
              <a:t>id (PK), familyCode, ownerUid, ownerUsername</a:t>
            </a:r>
            <a:endParaRPr lang="ru-RU" sz="700"/>
          </a:p>
          <a:p>
            <a:r>
              <a:rPr lang="en-US" sz="700"/>
              <a:t>name, price, periodicity, iconResName</a:t>
            </a:r>
            <a:endParaRPr lang="ru-RU" sz="700"/>
          </a:p>
          <a:p>
            <a:r>
              <a:rPr lang="en-US" sz="700"/>
              <a:t>nextPaymentDate, updatedAt</a:t>
            </a:r>
            <a:endParaRPr lang="ru-RU" sz="700"/>
          </a:p>
          <a:p>
            <a:r>
              <a:rPr lang="ru-RU" sz="700"/>
              <a:t>Индексы: </a:t>
            </a:r>
            <a:r>
              <a:rPr lang="en-US" sz="700"/>
              <a:t>familyCode, ownerUid, nextPaymentDate</a:t>
            </a:r>
            <a:endParaRPr lang="ru-RU" sz="700"/>
          </a:p>
          <a:p>
            <a:endParaRPr lang="ru-RU" sz="700"/>
          </a:p>
          <a:p>
            <a:r>
              <a:rPr lang="ru-RU" sz="700"/>
              <a:t>Таблица </a:t>
            </a:r>
            <a:r>
              <a:rPr lang="en-US" sz="700"/>
              <a:t>payments:</a:t>
            </a:r>
            <a:endParaRPr lang="ru-RU" sz="700"/>
          </a:p>
          <a:p>
            <a:r>
              <a:rPr lang="en-US" sz="700"/>
              <a:t>id (PK), familyCode, subscriptionName</a:t>
            </a:r>
            <a:endParaRPr lang="ru-RU" sz="700"/>
          </a:p>
          <a:p>
            <a:r>
              <a:rPr lang="en-US" sz="700"/>
              <a:t>amount, ownerUid, ownerUsername, iconResName</a:t>
            </a:r>
            <a:endParaRPr lang="ru-RU" sz="700"/>
          </a:p>
          <a:p>
            <a:r>
              <a:rPr lang="en-US" sz="700"/>
              <a:t>paidAt, updatedAt</a:t>
            </a:r>
            <a:endParaRPr lang="ru-RU" sz="700"/>
          </a:p>
          <a:p>
            <a:r>
              <a:rPr lang="ru-RU" sz="700"/>
              <a:t>Индексы: </a:t>
            </a:r>
            <a:r>
              <a:rPr lang="en-US" sz="700"/>
              <a:t>familyCode, paidAt, ownerUid</a:t>
            </a:r>
            <a:endParaRPr lang="ru-RU" sz="700"/>
          </a:p>
          <a:p>
            <a:endParaRPr lang="ru-RU" sz="700"/>
          </a:p>
          <a:p>
            <a:r>
              <a:rPr lang="ru-RU" sz="700"/>
              <a:t>Таблица </a:t>
            </a:r>
            <a:r>
              <a:rPr lang="en-US" sz="700"/>
              <a:t>users:</a:t>
            </a:r>
            <a:endParaRPr lang="ru-RU" sz="700"/>
          </a:p>
          <a:p>
            <a:r>
              <a:rPr lang="en-US" sz="700"/>
              <a:t>id (PK), uid, username, familyCode</a:t>
            </a:r>
            <a:endParaRPr lang="ru-RU" sz="700"/>
          </a:p>
          <a:p>
            <a:r>
              <a:rPr lang="en-US" sz="700"/>
              <a:t>familyName, role, avatarUrl, updatedAt</a:t>
            </a:r>
            <a:endParaRPr lang="ru-RU" sz="700"/>
          </a:p>
          <a:p>
            <a:r>
              <a:rPr lang="ru-RU" sz="700"/>
              <a:t>Индексы: </a:t>
            </a:r>
            <a:r>
              <a:rPr lang="en-US" sz="700"/>
              <a:t>familyCode, uid</a:t>
            </a:r>
            <a:r>
              <a:rPr lang="ru-RU" sz="700"/>
              <a:t>Таблица </a:t>
            </a:r>
            <a:r>
              <a:rPr lang="en-US" sz="700"/>
              <a:t>pending_actions:</a:t>
            </a:r>
            <a:endParaRPr lang="ru-RU" sz="700"/>
          </a:p>
          <a:p>
            <a:r>
              <a:rPr lang="en-US" sz="700"/>
              <a:t>id (PK), familyCode, type (PAY/UPDATE/DELETE)</a:t>
            </a:r>
            <a:endParaRPr lang="ru-RU" sz="700"/>
          </a:p>
          <a:p>
            <a:r>
              <a:rPr lang="en-US" sz="700"/>
              <a:t>subId, payloadJson, createdAt</a:t>
            </a:r>
            <a:endParaRPr lang="ru-RU" sz="700"/>
          </a:p>
          <a:p>
            <a:r>
              <a:rPr lang="ru-RU" sz="700"/>
              <a:t>Индексы: </a:t>
            </a:r>
            <a:r>
              <a:rPr lang="en-US" sz="700"/>
              <a:t>familyCode, createdAtFirestore (</a:t>
            </a:r>
            <a:r>
              <a:rPr lang="ru-RU" sz="700"/>
              <a:t>Облачная БД):</a:t>
            </a:r>
          </a:p>
          <a:p>
            <a:r>
              <a:rPr lang="ru-RU" sz="700"/>
              <a:t>Коллекция </a:t>
            </a:r>
            <a:r>
              <a:rPr lang="en-US" sz="700"/>
              <a:t>families - </a:t>
            </a:r>
            <a:r>
              <a:rPr lang="ru-RU" sz="700"/>
              <a:t>информация о семьях</a:t>
            </a:r>
          </a:p>
          <a:p>
            <a:r>
              <a:rPr lang="ru-RU" sz="700"/>
              <a:t>Коллекция </a:t>
            </a:r>
            <a:r>
              <a:rPr lang="en-US" sz="700"/>
              <a:t>users - </a:t>
            </a:r>
            <a:r>
              <a:rPr lang="ru-RU" sz="700"/>
              <a:t>пользователи с ролями</a:t>
            </a:r>
          </a:p>
          <a:p>
            <a:r>
              <a:rPr lang="ru-RU" sz="700"/>
              <a:t>Коллекция </a:t>
            </a:r>
            <a:r>
              <a:rPr lang="en-US" sz="700"/>
              <a:t>subscriptions - </a:t>
            </a:r>
            <a:r>
              <a:rPr lang="ru-RU" sz="700"/>
              <a:t>синхронизация подписок</a:t>
            </a:r>
          </a:p>
          <a:p>
            <a:r>
              <a:rPr lang="ru-RU" sz="700"/>
              <a:t>Коллекция </a:t>
            </a:r>
            <a:r>
              <a:rPr lang="en-US" sz="700"/>
              <a:t>payments - </a:t>
            </a:r>
            <a:r>
              <a:rPr lang="ru-RU" sz="700"/>
              <a:t>история платежейСтратегия синхронизации:1.Изменения сохраняются локально (</a:t>
            </a:r>
            <a:r>
              <a:rPr lang="en-US" sz="700"/>
              <a:t>Room)2.</a:t>
            </a:r>
            <a:r>
              <a:rPr lang="ru-RU" sz="700"/>
              <a:t>Добавляются в очередь (</a:t>
            </a:r>
            <a:r>
              <a:rPr lang="en-US" sz="700"/>
              <a:t>PendingActions)</a:t>
            </a:r>
            <a:endParaRPr lang="ru-RU" sz="700"/>
          </a:p>
          <a:p>
            <a:r>
              <a:rPr lang="ru-RU" sz="700"/>
              <a:t>Фоновая синхронизация с </a:t>
            </a:r>
            <a:r>
              <a:rPr lang="en-US" sz="700"/>
              <a:t>Firestore (WorkManager)</a:t>
            </a:r>
            <a:endParaRPr lang="ru-RU" sz="700"/>
          </a:p>
        </p:txBody>
      </p:sp>
    </p:spTree>
    <p:extLst>
      <p:ext uri="{BB962C8B-B14F-4D97-AF65-F5344CB8AC3E}">
        <p14:creationId xmlns:p14="http://schemas.microsoft.com/office/powerpoint/2010/main" val="13888175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1DF0D2-97AA-9F01-E3CC-ECC24B53C8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ru-RU" sz="4000">
                <a:solidFill>
                  <a:srgbClr val="FFFFFF"/>
                </a:solidFill>
              </a:rPr>
              <a:t>Преимущества решения</a:t>
            </a:r>
          </a:p>
        </p:txBody>
      </p:sp>
      <p:graphicFrame>
        <p:nvGraphicFramePr>
          <p:cNvPr id="5" name="Объект 2">
            <a:extLst>
              <a:ext uri="{FF2B5EF4-FFF2-40B4-BE49-F238E27FC236}">
                <a16:creationId xmlns:a16="http://schemas.microsoft.com/office/drawing/2014/main" id="{F736CF1C-89AE-593D-2143-FBADB9BF588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9907157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938445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0EFFE7-4967-6F46-9AB4-5E7706173C0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A0C186-B9A1-1C8C-3AC6-EC4DC374C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ru-RU" dirty="0">
                <a:solidFill>
                  <a:srgbClr val="FFFFFF"/>
                </a:solidFill>
              </a:rPr>
              <a:t>Выводы</a:t>
            </a:r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E2136C2-9CAB-5885-ABF9-9E3D3D65CF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ru-RU" sz="1500">
                <a:solidFill>
                  <a:srgbClr val="FFFFFF"/>
                </a:solidFill>
              </a:rPr>
              <a:t>Реализовано:</a:t>
            </a:r>
          </a:p>
          <a:p>
            <a:pPr marL="0" indent="0">
              <a:buNone/>
            </a:pPr>
            <a:r>
              <a:rPr lang="ru-RU" sz="1500">
                <a:solidFill>
                  <a:srgbClr val="FFFFFF"/>
                </a:solidFill>
              </a:rPr>
              <a:t>✅ Полнофункциональное Android приложение для управления подписками</a:t>
            </a:r>
          </a:p>
          <a:p>
            <a:pPr marL="0" indent="0">
              <a:buNone/>
            </a:pPr>
            <a:r>
              <a:rPr lang="ru-RU" sz="1500">
                <a:solidFill>
                  <a:srgbClr val="FFFFFF"/>
                </a:solidFill>
              </a:rPr>
              <a:t>✅ Семейный доступ с синхронизацией данных</a:t>
            </a:r>
          </a:p>
          <a:p>
            <a:pPr marL="0" indent="0">
              <a:buNone/>
            </a:pPr>
            <a:r>
              <a:rPr lang="ru-RU" sz="1500">
                <a:solidFill>
                  <a:srgbClr val="FFFFFF"/>
                </a:solidFill>
              </a:rPr>
              <a:t>✅ Offline-first архитектура с автоматической синхронизацией</a:t>
            </a:r>
          </a:p>
          <a:p>
            <a:pPr marL="0" indent="0">
              <a:buNone/>
            </a:pPr>
            <a:r>
              <a:rPr lang="ru-RU" sz="1500">
                <a:solidFill>
                  <a:srgbClr val="FFFFFF"/>
                </a:solidFill>
              </a:rPr>
              <a:t>✅ Статистика и визуализация расходов</a:t>
            </a:r>
          </a:p>
          <a:p>
            <a:pPr marL="0" indent="0">
              <a:buNone/>
            </a:pPr>
            <a:r>
              <a:rPr lang="ru-RU" sz="1500">
                <a:solidFill>
                  <a:srgbClr val="FFFFFF"/>
                </a:solidFill>
              </a:rPr>
              <a:t>✅ Современная архитектура (Clean Architecture + MVVM)</a:t>
            </a:r>
          </a:p>
          <a:p>
            <a:pPr marL="0" indent="0">
              <a:buNone/>
            </a:pPr>
            <a:r>
              <a:rPr lang="ru-RU" sz="1500">
                <a:solidFill>
                  <a:srgbClr val="FFFFFF"/>
                </a:solidFill>
              </a:rPr>
              <a:t>✅ Интеграция с Firebase (Auth, Firestore)</a:t>
            </a:r>
          </a:p>
          <a:p>
            <a:pPr marL="0" indent="0">
              <a:buNone/>
            </a:pPr>
            <a:r>
              <a:rPr lang="ru-RU" sz="1500">
                <a:solidFill>
                  <a:srgbClr val="FFFFFF"/>
                </a:solidFill>
              </a:rPr>
              <a:t>✅ Локальное хранение данных (Room)</a:t>
            </a:r>
          </a:p>
          <a:p>
            <a:pPr marL="0" indent="0">
              <a:buNone/>
            </a:pPr>
            <a:r>
              <a:rPr lang="ru-RU" sz="1500">
                <a:solidFill>
                  <a:srgbClr val="FFFFFF"/>
                </a:solidFill>
              </a:rPr>
              <a:t>✅ Фоновая синхронизация (WorkManager)</a:t>
            </a:r>
          </a:p>
          <a:p>
            <a:pPr marL="0" indent="0">
              <a:buNone/>
            </a:pPr>
            <a:r>
              <a:rPr lang="ru-RU" sz="1500">
                <a:solidFill>
                  <a:srgbClr val="FFFFFF"/>
                </a:solidFill>
              </a:rPr>
              <a:t>✅ Поддержка темной темы и адаптация под разные экраны</a:t>
            </a:r>
          </a:p>
          <a:p>
            <a:pPr marL="0" indent="0">
              <a:buNone/>
            </a:pPr>
            <a:r>
              <a:rPr lang="ru-RU" sz="1500">
                <a:solidFill>
                  <a:srgbClr val="FFFFFF"/>
                </a:solidFill>
              </a:rPr>
              <a:t>Технические достижения:</a:t>
            </a:r>
          </a:p>
          <a:p>
            <a:pPr marL="0" indent="0">
              <a:buNone/>
            </a:pPr>
            <a:r>
              <a:rPr lang="ru-RU" sz="1500">
                <a:solidFill>
                  <a:srgbClr val="FFFFFF"/>
                </a:solidFill>
              </a:rPr>
              <a:t>Использование современных Android практик</a:t>
            </a:r>
          </a:p>
          <a:p>
            <a:pPr marL="0" indent="0">
              <a:buNone/>
            </a:pPr>
            <a:r>
              <a:rPr lang="ru-RU" sz="1500">
                <a:solidFill>
                  <a:srgbClr val="FFFFFF"/>
                </a:solidFill>
              </a:rPr>
              <a:t>Реактивное программирование (Flow, LiveData)</a:t>
            </a:r>
          </a:p>
          <a:p>
            <a:pPr marL="0" indent="0">
              <a:buNone/>
            </a:pPr>
            <a:r>
              <a:rPr lang="ru-RU" sz="1500">
                <a:solidFill>
                  <a:srgbClr val="FFFFFF"/>
                </a:solidFill>
              </a:rPr>
              <a:t>синхронная обработка данных (Coroutines)</a:t>
            </a:r>
          </a:p>
          <a:p>
            <a:pPr marL="0" indent="0">
              <a:buNone/>
            </a:pPr>
            <a:r>
              <a:rPr lang="ru-RU" sz="1500">
                <a:solidFill>
                  <a:srgbClr val="FFFFFF"/>
                </a:solidFill>
              </a:rPr>
              <a:t>Модульная архитектура для легкой поддержки</a:t>
            </a:r>
          </a:p>
          <a:p>
            <a:pPr marL="0" indent="0">
              <a:buNone/>
            </a:pPr>
            <a:r>
              <a:rPr lang="ru-RU" sz="1500">
                <a:solidFill>
                  <a:srgbClr val="FFFFFF"/>
                </a:solidFill>
              </a:rPr>
              <a:t>Результат: Полноценное приложение, готовое к использованию семьями для управления подписками и контроля расходов.</a:t>
            </a:r>
          </a:p>
        </p:txBody>
      </p:sp>
    </p:spTree>
    <p:extLst>
      <p:ext uri="{BB962C8B-B14F-4D97-AF65-F5344CB8AC3E}">
        <p14:creationId xmlns:p14="http://schemas.microsoft.com/office/powerpoint/2010/main" val="29514194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345F5-A096-56C4-9AD3-99F300C19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Планы развития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95F6702-A987-5BAC-F0E2-76D6E555EE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2940" y="1627505"/>
            <a:ext cx="10515600" cy="4351338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dirty="0"/>
              <a:t>🔄 Улучшение UI/UX дизайна</a:t>
            </a:r>
          </a:p>
          <a:p>
            <a:pPr marL="0" indent="0">
              <a:buNone/>
            </a:pPr>
            <a:r>
              <a:rPr lang="ru-RU" dirty="0"/>
              <a:t>📊 Расширенная аналитика (категории расходов)</a:t>
            </a:r>
          </a:p>
          <a:p>
            <a:pPr marL="0" indent="0">
              <a:buNone/>
            </a:pPr>
            <a:r>
              <a:rPr lang="ru-RU" dirty="0"/>
              <a:t>🔔 Настраиваемые напоминания</a:t>
            </a:r>
          </a:p>
          <a:p>
            <a:pPr marL="0" indent="0">
              <a:buNone/>
            </a:pPr>
            <a:r>
              <a:rPr lang="ru-RU" dirty="0"/>
              <a:t>🌍 </a:t>
            </a:r>
            <a:r>
              <a:rPr lang="ru-RU" dirty="0" err="1"/>
              <a:t>Мультиязычность</a:t>
            </a:r>
            <a:r>
              <a:rPr lang="ru-RU" dirty="0"/>
              <a:t> (английский, русский)</a:t>
            </a:r>
          </a:p>
          <a:p>
            <a:pPr marL="0" indent="0">
              <a:buNone/>
            </a:pPr>
            <a:r>
              <a:rPr lang="ru-RU" dirty="0"/>
              <a:t>📱 </a:t>
            </a:r>
            <a:r>
              <a:rPr lang="ru-RU" dirty="0" err="1"/>
              <a:t>iOS</a:t>
            </a:r>
            <a:r>
              <a:rPr lang="ru-RU" dirty="0"/>
              <a:t> </a:t>
            </a:r>
            <a:r>
              <a:rPr lang="ru-RU"/>
              <a:t>версия </a:t>
            </a:r>
          </a:p>
          <a:p>
            <a:pPr marL="0" indent="0">
              <a:buNone/>
            </a:pPr>
            <a:endParaRPr lang="ru-RU" dirty="0"/>
          </a:p>
          <a:p>
            <a:pPr marL="0" indent="0">
              <a:buNone/>
            </a:pPr>
            <a:r>
              <a:rPr lang="ru-RU" dirty="0"/>
              <a:t>Среднесрочные планы (v1.2-v1.5):</a:t>
            </a:r>
          </a:p>
          <a:p>
            <a:pPr marL="0" indent="0">
              <a:buNone/>
            </a:pPr>
            <a:r>
              <a:rPr lang="ru-RU" dirty="0"/>
              <a:t>💰 Бюджеты и лимиты расходов</a:t>
            </a:r>
          </a:p>
          <a:p>
            <a:pPr marL="0" indent="0">
              <a:buNone/>
            </a:pPr>
            <a:r>
              <a:rPr lang="ru-RU" dirty="0"/>
              <a:t>📈 Прогнозирование расходов</a:t>
            </a:r>
          </a:p>
          <a:p>
            <a:pPr marL="0" indent="0">
              <a:buNone/>
            </a:pPr>
            <a:r>
              <a:rPr lang="ru-RU" dirty="0"/>
              <a:t>🔍 Расширенный поиск и фильтры</a:t>
            </a:r>
          </a:p>
          <a:p>
            <a:pPr marL="0" indent="0">
              <a:buNone/>
            </a:pPr>
            <a:r>
              <a:rPr lang="ru-RU" dirty="0"/>
              <a:t>📧 </a:t>
            </a:r>
            <a:r>
              <a:rPr lang="ru-RU" dirty="0" err="1"/>
              <a:t>Email</a:t>
            </a:r>
            <a:r>
              <a:rPr lang="ru-RU" dirty="0"/>
              <a:t> уведомления</a:t>
            </a:r>
          </a:p>
          <a:p>
            <a:pPr marL="0" indent="0">
              <a:buNone/>
            </a:pPr>
            <a:r>
              <a:rPr lang="ru-RU" dirty="0"/>
              <a:t>🔐 Двухфакторная аутентификация</a:t>
            </a:r>
          </a:p>
          <a:p>
            <a:pPr marL="0" indent="0">
              <a:buNone/>
            </a:pPr>
            <a:r>
              <a:rPr lang="ru-RU" dirty="0"/>
              <a:t>👥 Расширенное управление ролями</a:t>
            </a:r>
          </a:p>
        </p:txBody>
      </p:sp>
    </p:spTree>
    <p:extLst>
      <p:ext uri="{BB962C8B-B14F-4D97-AF65-F5344CB8AC3E}">
        <p14:creationId xmlns:p14="http://schemas.microsoft.com/office/powerpoint/2010/main" val="41138341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683</Words>
  <Application>Microsoft Office PowerPoint</Application>
  <PresentationFormat>Широкоэкранный</PresentationFormat>
  <Paragraphs>115</Paragraphs>
  <Slides>8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Тема Office</vt:lpstr>
      <vt:lpstr>SubTracker</vt:lpstr>
      <vt:lpstr> Проблема и решение</vt:lpstr>
      <vt:lpstr>Основной функционал</vt:lpstr>
      <vt:lpstr>Архитектура системы</vt:lpstr>
      <vt:lpstr>Стек технологий</vt:lpstr>
      <vt:lpstr>Преимущества решения</vt:lpstr>
      <vt:lpstr>Выводы</vt:lpstr>
      <vt:lpstr>Планы развития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Amirullakh Mutalibov</dc:creator>
  <cp:lastModifiedBy>Amirullakh Mutalibov</cp:lastModifiedBy>
  <cp:revision>1</cp:revision>
  <dcterms:created xsi:type="dcterms:W3CDTF">2025-12-20T10:34:08Z</dcterms:created>
  <dcterms:modified xsi:type="dcterms:W3CDTF">2025-12-20T10:55:53Z</dcterms:modified>
</cp:coreProperties>
</file>